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7" r:id="rId3"/>
    <p:sldId id="287" r:id="rId5"/>
    <p:sldId id="258" r:id="rId6"/>
    <p:sldId id="285" r:id="rId7"/>
    <p:sldId id="284" r:id="rId8"/>
    <p:sldId id="268" r:id="rId9"/>
    <p:sldId id="274" r:id="rId10"/>
    <p:sldId id="281" r:id="rId11"/>
    <p:sldId id="288" r:id="rId12"/>
    <p:sldId id="289" r:id="rId13"/>
    <p:sldId id="290" r:id="rId14"/>
    <p:sldId id="291" r:id="rId15"/>
    <p:sldId id="292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3792" userDrawn="1">
          <p15:clr>
            <a:srgbClr val="A4A3A4"/>
          </p15:clr>
        </p15:guide>
        <p15:guide id="4" orient="horz" pos="336" userDrawn="1">
          <p15:clr>
            <a:srgbClr val="A4A3A4"/>
          </p15:clr>
        </p15:guide>
        <p15:guide id="5" orient="horz" pos="1920" userDrawn="1">
          <p15:clr>
            <a:srgbClr val="A4A3A4"/>
          </p15:clr>
        </p15:guide>
        <p15:guide id="6" orient="horz" pos="3984" userDrawn="1">
          <p15:clr>
            <a:srgbClr val="A4A3A4"/>
          </p15:clr>
        </p15:guide>
        <p15:guide id="7" orient="horz" pos="1152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671" userDrawn="1">
          <p15:clr>
            <a:srgbClr val="A4A3A4"/>
          </p15:clr>
        </p15:guide>
        <p15:guide id="10" pos="7007" userDrawn="1">
          <p15:clr>
            <a:srgbClr val="A4A3A4"/>
          </p15:clr>
        </p15:guide>
        <p15:guide id="11" pos="6143" userDrawn="1">
          <p15:clr>
            <a:srgbClr val="A4A3A4"/>
          </p15:clr>
        </p15:guide>
        <p15:guide id="12" pos="3263" userDrawn="1">
          <p15:clr>
            <a:srgbClr val="A4A3A4"/>
          </p15:clr>
        </p15:guide>
        <p15:guide id="13" pos="7391" userDrawn="1">
          <p15:clr>
            <a:srgbClr val="A4A3A4"/>
          </p15:clr>
        </p15:guide>
        <p15:guide id="14" pos="36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0458" autoAdjust="0"/>
  </p:normalViewPr>
  <p:slideViewPr>
    <p:cSldViewPr showGuides="1">
      <p:cViewPr varScale="1">
        <p:scale>
          <a:sx n="39" d="100"/>
          <a:sy n="39" d="100"/>
        </p:scale>
        <p:origin x="52" y="496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>
            <a:fillRect/>
          </a:stretch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Cross 2"/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/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/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/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/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Cross 10"/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/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43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/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Freeform: Shape 4"/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/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>
            <a:fillRect/>
          </a:stretch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/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/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Cross 6"/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ross 4"/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/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hyperlink" Target="https://www.sqlite.org/docs.html" TargetMode="External"/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hyperlink" Target="https://pandas.pydata.org/docs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9796" y="1246448"/>
            <a:ext cx="10287000" cy="4365104"/>
          </a:xfrm>
        </p:spPr>
        <p:txBody>
          <a:bodyPr anchor="b">
            <a:noAutofit/>
          </a:bodyPr>
          <a:lstStyle/>
          <a:p>
            <a:pPr lvl="0"/>
            <a:r>
              <a:rPr lang="en-IN" sz="3200"/>
              <a:t>Student Performance Prediction System</a:t>
            </a:r>
            <a:br>
              <a:rPr lang="en-IN" sz="3200"/>
            </a:br>
            <a:r>
              <a:rPr lang="en-IN" sz="3200"/>
              <a:t>Presented By:</a:t>
            </a:r>
            <a:br>
              <a:rPr lang="en-IN" sz="3200"/>
            </a:br>
            <a:r>
              <a:rPr lang="en-IN" sz="2000" b="0"/>
              <a:t>2520030563 - B. Siri Manasa </a:t>
            </a:r>
            <a:br>
              <a:rPr lang="en-IN" sz="2000" b="0"/>
            </a:br>
            <a:r>
              <a:rPr lang="en-IN" sz="2000" b="0"/>
              <a:t>2520030046 - G. Pavani</a:t>
            </a:r>
            <a:br>
              <a:rPr lang="en-IN" sz="3200" b="0"/>
            </a:br>
            <a:r>
              <a:rPr lang="en-IN" sz="3200"/>
              <a:t>Team Number: </a:t>
            </a:r>
            <a:r>
              <a:rPr lang="en-IN" sz="3200" b="0"/>
              <a:t>18</a:t>
            </a:r>
            <a:r>
              <a:rPr lang="en-IN" sz="3200"/>
              <a:t> | Section: </a:t>
            </a:r>
            <a:r>
              <a:rPr lang="en-IN" sz="3200" b="0"/>
              <a:t>1</a:t>
            </a:r>
            <a:r>
              <a:rPr lang="en-IN" sz="3200"/>
              <a:t> </a:t>
            </a:r>
            <a:br>
              <a:rPr lang="en-IN" sz="3200"/>
            </a:br>
            <a:r>
              <a:rPr lang="en-IN" sz="3200"/>
              <a:t>Under the Guidance of: </a:t>
            </a:r>
            <a:r>
              <a:rPr lang="en-IN" sz="3200" b="0"/>
              <a:t>Dr. Raghavendra, </a:t>
            </a:r>
            <a:r>
              <a:rPr lang="en-IN" sz="2800" b="0"/>
              <a:t>Department of Computer Science and Engineering</a:t>
            </a:r>
            <a:br>
              <a:rPr lang="en-IN" sz="2800"/>
            </a:br>
            <a:endParaRPr lang="en-US" sz="28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5980" y="0"/>
            <a:ext cx="10561240" cy="4752527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Introduction &amp; Domain Background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278" y="1163534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513205" y="116840"/>
            <a:ext cx="9493885" cy="550799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endParaRPr lang="en-IN" sz="2800" b="1" dirty="0">
              <a:effectLst/>
              <a:latin typeface="+mn-lt"/>
            </a:endParaRPr>
          </a:p>
          <a:p>
            <a:pPr marR="0" lvl="0"/>
            <a:r>
              <a:rPr lang="en-IN" sz="2800" b="1" dirty="0">
                <a:effectLst/>
                <a:latin typeface="+mn-lt"/>
              </a:rPr>
              <a:t>
</a:t>
            </a:r>
            <a:r>
              <a:rPr lang="en-IN" sz="1600" b="1" dirty="0">
                <a:effectLst/>
                <a:latin typeface="+mn-lt"/>
              </a:rPr>
              <a:t>Domain: </a:t>
            </a:r>
            <a:r>
              <a:rPr lang="en-US" sz="1600" b="1" dirty="0"/>
              <a:t>Machine Learning and Educational Data Analytics.</a:t>
            </a:r>
            <a:endParaRPr lang="en-US" sz="1600" b="1" dirty="0"/>
          </a:p>
          <a:p>
            <a:pPr marR="0" lvl="0"/>
            <a:r>
              <a:rPr lang="en-US" sz="1600" b="1" dirty="0"/>
              <a:t>- Uses student-related data to analyze academic performance.- Applies machine learning techniques to predict student performance.- Uses data visualization to identify patterns in student academic records.</a:t>
            </a:r>
            <a:r>
              <a:rPr lang="en-IN" sz="1600" b="1" dirty="0">
                <a:effectLst/>
                <a:latin typeface="+mn-lt"/>
              </a:rPr>
              <a:t>
Relevance: </a:t>
            </a:r>
            <a:r>
              <a:rPr lang="en-US" sz="1600" b="1" dirty="0"/>
              <a:t>- Helps understand student academic performance using data-driven analysis.- Examines factors such as attendance and study hours in relation to CGPA.- Supports early identification of students who may need academic assistance.- Provides visual insights to support educational decision-making.</a:t>
            </a:r>
            <a:r>
              <a:rPr lang="en-IN" sz="1600" b="1" dirty="0">
                <a:effectLst/>
                <a:latin typeface="+mn-lt"/>
              </a:rPr>
              <a:t>
Project Context:</a:t>
            </a:r>
            <a:endParaRPr lang="en-IN" sz="2800" dirty="0">
              <a:effectLst/>
              <a:latin typeface="+mn-lt"/>
            </a:endParaRPr>
          </a:p>
          <a:p>
            <a:pPr marR="0" lvl="0"/>
            <a:r>
              <a:rPr lang="en-US" sz="2800" b="1" dirty="0"/>
              <a:t>- </a:t>
            </a:r>
            <a:r>
              <a:rPr lang="en-US" sz="1600" b="1" dirty="0"/>
              <a:t>The project is titled *Student Performance Prediction System*.- Uses a student performance dataset for analysis and prediction.- Includes Exploratory Data Analysis (EDA) charts to visualize academic trends.- Uses a trained machine learning model to generate performance predictions.- Provides a web interface built with React.js and a </a:t>
            </a:r>
            <a:r>
              <a:rPr lang="en-US" sz="1600" b="1" dirty="0" err="1"/>
              <a:t>FastAPI</a:t>
            </a:r>
            <a:r>
              <a:rPr lang="en-US" sz="1600" b="1" dirty="0"/>
              <a:t> backend.- Uses SQLite to store prediction history.</a:t>
            </a:r>
            <a:endParaRPr lang="en-IN" sz="1600" b="1" dirty="0">
              <a:effectLst/>
              <a:latin typeface="+mn-lt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endParaRPr lang="en-IN" sz="2800" dirty="0">
              <a:effectLst/>
              <a:latin typeface="Google Sans Text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575"/>
            <a:ext cx="2021631" cy="937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973" y="1124744"/>
            <a:ext cx="4914900" cy="934616"/>
          </a:xfrm>
        </p:spPr>
        <p:txBody>
          <a:bodyPr anchor="t">
            <a:normAutofit/>
          </a:bodyPr>
          <a:lstStyle/>
          <a:p>
            <a:r>
              <a:rPr lang="en-IN"/>
              <a:t>Problem Statement &amp; Motivation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10183738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IN" b="1" dirty="0"/>
              <a:t>Problem Statement:
</a:t>
            </a:r>
            <a:r>
              <a:rPr lang="en-US" b="1" dirty="0"/>
              <a:t>- Analyzing student academic performance manually can be time-consuming and difficult.-</a:t>
            </a:r>
            <a:endParaRPr lang="en-US" b="1" dirty="0"/>
          </a:p>
          <a:p>
            <a:pPr lvl="0"/>
            <a:r>
              <a:rPr lang="en-US" b="1" dirty="0"/>
              <a:t> Educational institutions need effective methods to understand student performance patterns.</a:t>
            </a:r>
            <a:endParaRPr lang="en-US" b="1" dirty="0"/>
          </a:p>
          <a:p>
            <a:pPr lvl="0"/>
            <a:r>
              <a:rPr lang="en-US" b="1" dirty="0"/>
              <a:t> Identifying relationships between attendance, study hours, and CGPA can help in academic analysis.-</a:t>
            </a:r>
            <a:endParaRPr lang="en-US" b="1" dirty="0"/>
          </a:p>
          <a:p>
            <a:pPr lvl="0"/>
            <a:r>
              <a:rPr lang="en-US" b="1" dirty="0"/>
              <a:t> Traditional methods may not provide quick, data-driven performance predictions.- Therefore, a machine learning-based system is needed to analyze student data, predict academic performance, and display insights through visualizations.</a:t>
            </a:r>
            <a:r>
              <a:rPr lang="en-IN" b="1" dirty="0"/>
              <a:t>
</a:t>
            </a:r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67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58369" y="188640"/>
            <a:ext cx="4914900" cy="381000"/>
          </a:xfrm>
        </p:spPr>
        <p:txBody>
          <a:bodyPr>
            <a:normAutofit fontScale="90000"/>
          </a:bodyPr>
          <a:lstStyle/>
          <a:p>
            <a:r>
              <a:rPr lang="en-IN"/>
              <a:t>Literature Survey</a:t>
            </a:r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804" y="764704"/>
          <a:ext cx="10945216" cy="621093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19496"/>
                <a:gridCol w="2117034"/>
                <a:gridCol w="2115534"/>
                <a:gridCol w="2092281"/>
                <a:gridCol w="1905893"/>
                <a:gridCol w="1894978"/>
              </a:tblGrid>
              <a:tr h="499537">
                <a:tc>
                  <a:txBody>
                    <a:bodyPr/>
                    <a:lstStyle/>
                    <a:p>
                      <a:r>
                        <a:rPr lang="en-US" err="1"/>
                        <a:t>S.No</a:t>
                      </a:r>
                      <a:r>
                        <a:rPr lang="en-US"/>
                        <a:t>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 and Year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Title/Technique Used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Dataset/Tools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Limitation/Gap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367153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Cortez and Silva (2008) 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Predicting secondary school student performance using data mining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Portuguese student records; data-mining techniques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Examined academic, demographic, social, and school-related factors associated with student grades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Focuses on secondary-school students and does not provide the integrated web dashboard used in our project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367153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Dabhade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 (2021) 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Educational data mining for student performance prediction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Institutional student data; Python and ML algorithms 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Compared regression techniques to predict academic performance using student attributes and previous GPA 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 used data from a specific institution, so findings may not generalize to all datasets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303659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Garcia et al.(2024)</a:t>
                      </a:r>
                      <a:endParaRPr lang="en-IN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implementation for academic performance classification 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UCI Student Repository, </a:t>
                      </a:r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91.2% precision in predicting final performance grades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computational complexity without dimensionality reduction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367153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Yağcı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(2022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Predicting academic performance using ML algorithms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Grades of 1,854 university students; multiple classification algorithms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Compared several algorithms and reported classification accuracy of 70–75% for the studied dataset </a:t>
                      </a:r>
                      <a:endParaRPr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a limited set of academic and institutional features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9834" y="1124744"/>
            <a:ext cx="4914900" cy="587152"/>
          </a:xfrm>
        </p:spPr>
        <p:txBody>
          <a:bodyPr>
            <a:normAutofit/>
          </a:bodyPr>
          <a:lstStyle/>
          <a:p>
            <a:r>
              <a:rPr lang="en-IN" sz="2800"/>
              <a:t>Research Gap Identified</a:t>
            </a:r>
            <a:endParaRPr lang="en-US"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124744"/>
            <a:ext cx="760412" cy="587152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8495" y="2246221"/>
            <a:ext cx="10399762" cy="4032448"/>
          </a:xfrm>
        </p:spPr>
        <p:txBody>
          <a:bodyPr/>
          <a:lstStyle/>
          <a:p>
            <a:pPr lvl="0"/>
            <a:r>
              <a:rPr lang="en-US" dirty="0"/>
              <a:t>GAP 1 – Data-Level:*  Existing approaches may not consider multiple student-related factors, such as attendance, study hours, and academic performance, together.</a:t>
            </a:r>
            <a:endParaRPr lang="en-US" dirty="0"/>
          </a:p>
          <a:p>
            <a:pPr lvl="0"/>
            <a:r>
              <a:rPr lang="en-US" dirty="0"/>
              <a:t>GAP 2 – Analysis-Level:*  There is a need to combine ML-based student performance prediction with Exploratory Data Analysis (EDA) to identify academic patterns and trends.</a:t>
            </a:r>
            <a:endParaRPr lang="en-IN" dirty="0"/>
          </a:p>
          <a:p>
            <a:pPr lvl="0"/>
            <a:r>
              <a:rPr lang="en-US" dirty="0"/>
              <a:t>GAP 3 – Deployment-Level:*  Some prediction approaches lack an integrated, user-friendly web dashboard for displaying predictions, visualizations, and previous results.</a:t>
            </a:r>
            <a:endParaRPr lang="en-IN" dirty="0"/>
          </a:p>
          <a:p>
            <a:r>
              <a:rPr lang="en-US" dirty="0"/>
              <a:t>*Our Project Addresses:*  Our project integrates a trained Machine Learning model, EDA visualizations, and an interactive React.js dashboard with a </a:t>
            </a:r>
            <a:r>
              <a:rPr lang="en-US" dirty="0" err="1"/>
              <a:t>FastAPI</a:t>
            </a:r>
            <a:r>
              <a:rPr lang="en-US" dirty="0"/>
              <a:t> backend and SQLite database to provide student performance predictions and maintain prediction history.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057" y="1192932"/>
            <a:ext cx="4914900" cy="1447800"/>
          </a:xfrm>
        </p:spPr>
        <p:txBody>
          <a:bodyPr anchor="t">
            <a:normAutofit/>
          </a:bodyPr>
          <a:lstStyle/>
          <a:p>
            <a:r>
              <a:rPr lang="en-IN" sz="2800"/>
              <a:t>Objectives of the Project</a:t>
            </a:r>
            <a:endParaRPr lang="en-US" sz="28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177012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53852" y="2902322"/>
            <a:ext cx="11017224" cy="25533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develop a machine learning-based system for predicting student academic performance.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analyze student data and identify patterns using Exploratory Data Analysis (EDA).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study the relationship between attendance, study hours, and CGPA.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provide performance predictions through a user-friendly web application.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visualize academic trends using interactive charts and graphs.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store and maintain prediction records using an SQLite database.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support data-driven decisions and help identify students who may need academic assistance.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1155203"/>
            <a:ext cx="4800600" cy="947192"/>
          </a:xfrm>
        </p:spPr>
        <p:txBody>
          <a:bodyPr anchor="t">
            <a:normAutofit/>
          </a:bodyPr>
          <a:lstStyle/>
          <a:p>
            <a:r>
              <a:rPr lang="en-IN" sz="2400"/>
              <a:t>Proposed System Architecture</a:t>
            </a:r>
            <a:endParaRPr lang="en-US" sz="240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0" y="1155203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280" y="1614805"/>
            <a:ext cx="7560945" cy="492696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72" y="1124744"/>
            <a:ext cx="4914900" cy="1447800"/>
          </a:xfrm>
        </p:spPr>
        <p:txBody>
          <a:bodyPr anchor="t"/>
          <a:lstStyle/>
          <a:p>
            <a:r>
              <a:rPr lang="en-IN"/>
              <a:t>Methodology &amp; Modules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0" y="1124744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2223120"/>
          </a:xfrm>
        </p:spPr>
        <p:txBody>
          <a:bodyPr vert="horz" lIns="91416" tIns="45708" rIns="91416" bIns="45708" rtlCol="0" anchor="t">
            <a:normAutofit fontScale="85000" lnSpcReduction="10000"/>
          </a:bodyPr>
          <a:lstStyle/>
          <a:p>
            <a:pPr lvl="0"/>
            <a:r>
              <a:rPr lang="en-IN" b="1" dirty="0"/>
              <a:t>Module 1 - Data Collection</a:t>
            </a:r>
            <a:r>
              <a:rPr lang="en-IN" dirty="0"/>
              <a:t>: </a:t>
            </a:r>
            <a:r>
              <a:rPr lang="en-US" dirty="0"/>
              <a:t>- Gather student academic data from the dataset.- Identify relevant features for performance prediction.- Organize data for analysis and model training.</a:t>
            </a:r>
            <a:endParaRPr lang="en-US" dirty="0"/>
          </a:p>
          <a:p>
            <a:pPr lvl="0"/>
            <a:r>
              <a:rPr lang="en-IN" b="1" dirty="0"/>
              <a:t>Module 2 - </a:t>
            </a:r>
            <a:r>
              <a:rPr lang="en-IN" b="1" dirty="0" err="1"/>
              <a:t>Preprocessing</a:t>
            </a:r>
            <a:r>
              <a:rPr lang="en-IN" dirty="0"/>
              <a:t>:</a:t>
            </a:r>
            <a:r>
              <a:rPr lang="en-US" dirty="0"/>
              <a:t>- Clean and prepare the dataset.- Handle missing values and encode categorical features.- Transform inputs to match the trained model's requirements.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3159224"/>
          </a:xfrm>
        </p:spPr>
        <p:txBody>
          <a:bodyPr vert="horz" lIns="91416" tIns="45708" rIns="91416" bIns="45708" rtlCol="0" anchor="t">
            <a:normAutofit fontScale="92500" lnSpcReduction="10000"/>
          </a:bodyPr>
          <a:lstStyle/>
          <a:p>
            <a:pPr lvl="0"/>
            <a:r>
              <a:rPr lang="en-IN" b="1" dirty="0"/>
              <a:t>Module 3 - Core Logic</a:t>
            </a:r>
            <a:r>
              <a:rPr lang="en-US" b="1" dirty="0"/>
              <a:t>- </a:t>
            </a:r>
            <a:r>
              <a:rPr lang="en-US" dirty="0"/>
              <a:t>Use the trained ML model to predict student performance.- Analyze academic patterns through EDA charts.- Process predictions using </a:t>
            </a:r>
            <a:r>
              <a:rPr lang="en-US" dirty="0" err="1"/>
              <a:t>FastAPI</a:t>
            </a:r>
            <a:r>
              <a:rPr lang="en-US" dirty="0"/>
              <a:t> and store records in SQLite.</a:t>
            </a:r>
            <a:endParaRPr lang="en-US" dirty="0"/>
          </a:p>
          <a:p>
            <a:pPr lvl="0"/>
            <a:r>
              <a:rPr lang="en-IN" b="1" dirty="0"/>
              <a:t>Module 4 - Interface</a:t>
            </a:r>
            <a:r>
              <a:rPr lang="en-US" b="1" dirty="0"/>
              <a:t>- </a:t>
            </a:r>
            <a:r>
              <a:rPr lang="en-US" dirty="0"/>
              <a:t>Build an interactive dashboard using React.js.- Accept student details and display prediction results.- Visualize academic trends and provide prediction history.</a:t>
            </a:r>
            <a:endParaRPr lang="en-US" dirty="0"/>
          </a:p>
          <a:p>
            <a:pPr lvl="0"/>
            <a:endParaRPr lang="en-IN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6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7291" y="1045232"/>
            <a:ext cx="4914900" cy="731168"/>
          </a:xfrm>
        </p:spPr>
        <p:txBody>
          <a:bodyPr/>
          <a:lstStyle/>
          <a:p>
            <a:r>
              <a:rPr lang="en-IN"/>
              <a:t>Tools and Technologies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8935" y="1011337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88741" y="2204864"/>
            <a:ext cx="4572000" cy="324232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b="1" dirty="0"/>
              <a:t>Language</a:t>
            </a:r>
            <a:r>
              <a:rPr lang="en-IN" dirty="0"/>
              <a:t>: Python </a:t>
            </a:r>
            <a:endParaRPr lang="en-IN" dirty="0"/>
          </a:p>
          <a:p>
            <a:pPr lvl="0"/>
            <a:r>
              <a:rPr lang="en-IN" b="1" dirty="0"/>
              <a:t>Libraries</a:t>
            </a:r>
            <a:r>
              <a:rPr lang="en-IN" dirty="0"/>
              <a:t>: Pandas, NumPy, </a:t>
            </a:r>
            <a:r>
              <a:rPr lang="en-IN" dirty="0" err="1"/>
              <a:t>Scikit</a:t>
            </a:r>
            <a:r>
              <a:rPr lang="en-IN" dirty="0"/>
              <a:t>-learn, </a:t>
            </a:r>
            <a:r>
              <a:rPr lang="en-IN" dirty="0" err="1"/>
              <a:t>Joblib</a:t>
            </a:r>
            <a:endParaRPr lang="en-IN" dirty="0"/>
          </a:p>
          <a:p>
            <a:pPr lvl="0"/>
            <a:r>
              <a:rPr lang="en-IN" dirty="0"/>
              <a:t>3. Front End / Dashboard*- React.js, HTML, CSS, JavaScript- </a:t>
            </a:r>
            <a:r>
              <a:rPr lang="en-IN" dirty="0" err="1"/>
              <a:t>FastAPI</a:t>
            </a:r>
            <a:r>
              <a:rPr lang="en-IN" dirty="0"/>
              <a:t> for backend APIs- SQLite for database management</a:t>
            </a:r>
            <a:endParaRPr lang="en-IN" dirty="0"/>
          </a:p>
          <a:p>
            <a:pPr lvl="0"/>
            <a:r>
              <a:rPr lang="en-IN" b="1" dirty="0"/>
              <a:t>IDE</a:t>
            </a:r>
            <a:r>
              <a:rPr lang="en-IN" dirty="0"/>
              <a:t>: Visual Studio Code (VS Code)</a:t>
            </a:r>
            <a:endParaRPr lang="en-IN" dirty="0"/>
          </a:p>
          <a:p>
            <a:pPr lvl="0"/>
            <a:r>
              <a:rPr lang="en-IN" b="1" dirty="0"/>
              <a:t>Version Control</a:t>
            </a:r>
            <a:r>
              <a:rPr lang="en-IN" dirty="0"/>
              <a:t>: Git and GitHub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26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7586" y="1387252"/>
            <a:ext cx="4914900" cy="1447800"/>
          </a:xfrm>
        </p:spPr>
        <p:txBody>
          <a:bodyPr/>
          <a:lstStyle/>
          <a:p>
            <a:r>
              <a:rPr lang="en-IN"/>
              <a:t>Work Completed / Review Plan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196752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3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0" y="0"/>
            <a:ext cx="2217612" cy="102878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2151112"/>
          </a:xfrm>
        </p:spPr>
        <p:txBody>
          <a:bodyPr/>
          <a:lstStyle/>
          <a:p>
            <a:r>
              <a:rPr lang="en-US" dirty="0"/>
              <a:t>*Review Plan*- Test the prediction system with different student inputs.- Verify prediction results and dashboard functionality.- Review EDA charts and stored records.- Identify improvements for future development.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07586" y="3003555"/>
            <a:ext cx="4564550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Work Completed*- Collected and analyzed the student dataset.- Performed EDA and generated visualization charts.- Trained the ML model for performance prediction.- Developed a React.js dashboard with </a:t>
            </a:r>
            <a:r>
              <a:rPr lang="en-US" dirty="0" err="1"/>
              <a:t>FastAPI</a:t>
            </a:r>
            <a:r>
              <a:rPr lang="en-US" dirty="0"/>
              <a:t> backend.- Integrated SQLite to store prediction history.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626" y="1484784"/>
            <a:ext cx="4914900" cy="1447800"/>
          </a:xfrm>
        </p:spPr>
        <p:txBody>
          <a:bodyPr/>
          <a:lstStyle/>
          <a:p>
            <a:r>
              <a:rPr lang="en-IN"/>
              <a:t>Expected Outcome &amp; Conclusion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484784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b="1" dirty="0"/>
              <a:t>Deliverable: </a:t>
            </a:r>
            <a:r>
              <a:rPr lang="en-US" b="1" dirty="0"/>
              <a:t>*</a:t>
            </a:r>
            <a:r>
              <a:rPr lang="en-US" dirty="0"/>
              <a:t>Review Plan*- Test the prediction system with different student inputs.- Verify prediction results and dashboard functionality.- Review EDA charts and stored records.- Identify improvements for future development</a:t>
            </a:r>
            <a:r>
              <a:rPr lang="en-US" b="1" dirty="0"/>
              <a:t>.</a:t>
            </a:r>
            <a:r>
              <a:rPr lang="en-IN" b="1" dirty="0"/>
              <a:t>
Measurable Target: 
</a:t>
            </a:r>
            <a:r>
              <a:rPr lang="en-US" b="1" dirty="0"/>
              <a:t>- </a:t>
            </a:r>
            <a:r>
              <a:rPr lang="en-US" dirty="0"/>
              <a:t>Generate predictions from student inputs.- Display academic trends through charts.- Store and retrieve prediction records.- Verify system functionality through testing.</a:t>
            </a:r>
            <a:endParaRPr lang="en-IN" dirty="0"/>
          </a:p>
          <a:p>
            <a:pPr lvl="0"/>
            <a:endParaRPr lang="en-IN" b="1" dirty="0"/>
          </a:p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r>
              <a:rPr lang="en-IN" dirty="0"/>
              <a:t>:</a:t>
            </a:r>
            <a:r>
              <a:rPr lang="en-US" dirty="0"/>
              <a:t>- Combines Machine Learning, data analysis, and web technologies.- Helps analyze student performance and identify academic patterns.- Provides predictions and visual insights through a user-friendly dashboard.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08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7006" y="997801"/>
            <a:ext cx="4914900" cy="659160"/>
          </a:xfrm>
        </p:spPr>
        <p:txBody>
          <a:bodyPr/>
          <a:lstStyle/>
          <a:p>
            <a:r>
              <a:rPr lang="en-IN" dirty="0"/>
              <a:t> References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062236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7006" y="1443236"/>
            <a:ext cx="6799362" cy="5284440"/>
          </a:xfrm>
        </p:spPr>
        <p:txBody>
          <a:bodyPr>
            <a:normAutofit/>
          </a:bodyPr>
          <a:lstStyle/>
          <a:p>
            <a:pPr marL="502920" lvl="0" indent="-457200">
              <a:buAutoNum type="arabicPeriod"/>
            </a:pPr>
            <a:r>
              <a:rPr lang="en-IN" sz="2000" b="1" dirty="0" err="1"/>
              <a:t>Scikit</a:t>
            </a:r>
            <a:r>
              <a:rPr lang="en-IN" sz="2000" b="1" dirty="0"/>
              <a:t>-learn Documentation – Machine Learning     https://scikit-learn.org/2. </a:t>
            </a:r>
            <a:endParaRPr lang="en-IN" sz="2000" b="1" dirty="0"/>
          </a:p>
          <a:p>
            <a:pPr marL="502920" lvl="0" indent="-457200">
              <a:buAutoNum type="arabicPeriod"/>
            </a:pPr>
            <a:r>
              <a:rPr lang="en-IN" sz="2000" b="1" dirty="0"/>
              <a:t>Pandas Documentation – Data Analysis     </a:t>
            </a:r>
            <a:r>
              <a:rPr lang="en-IN" sz="2000" b="1" dirty="0">
                <a:hlinkClick r:id="rId1"/>
              </a:rPr>
              <a:t>https://pandas.pydata.org/docs/</a:t>
            </a:r>
            <a:endParaRPr lang="en-IN" sz="2000" b="1" dirty="0"/>
          </a:p>
          <a:p>
            <a:pPr marL="502920" lvl="0" indent="-457200">
              <a:buAutoNum type="arabicPeriod" startAt="3"/>
            </a:pPr>
            <a:r>
              <a:rPr lang="en-IN" sz="2000" b="1" dirty="0" err="1"/>
              <a:t>FastAPI</a:t>
            </a:r>
            <a:r>
              <a:rPr lang="en-IN" sz="2000" b="1" dirty="0"/>
              <a:t> Documentation – Backend Development     </a:t>
            </a:r>
            <a:r>
              <a:rPr lang="en-IN" sz="2000" b="1" dirty="0">
                <a:hlinkClick r:id="rId2"/>
              </a:rPr>
              <a:t>https://fastapi.tiangolo.com/</a:t>
            </a:r>
            <a:endParaRPr lang="en-IN" sz="2000" b="1" dirty="0"/>
          </a:p>
          <a:p>
            <a:pPr marL="502920" lvl="0" indent="-457200">
              <a:buAutoNum type="arabicPeriod" startAt="3"/>
            </a:pPr>
            <a:r>
              <a:rPr lang="en-IN" sz="2000" b="1" dirty="0"/>
              <a:t> React Documentation – Frontend Development     </a:t>
            </a:r>
            <a:r>
              <a:rPr lang="en-IN" sz="2000" b="1" dirty="0">
                <a:hlinkClick r:id="rId3"/>
              </a:rPr>
              <a:t>https://react.dev/</a:t>
            </a:r>
            <a:endParaRPr lang="en-IN" sz="2000" b="1" dirty="0"/>
          </a:p>
          <a:p>
            <a:pPr marL="502920" lvl="0" indent="-457200">
              <a:buAutoNum type="arabicPeriod" startAt="3"/>
            </a:pPr>
            <a:r>
              <a:rPr lang="en-IN" sz="2000" b="1" dirty="0"/>
              <a:t> SQLite Documentation – Database Management     </a:t>
            </a:r>
            <a:r>
              <a:rPr lang="en-IN" sz="2000" b="1" dirty="0">
                <a:hlinkClick r:id="rId4"/>
              </a:rPr>
              <a:t>https://www.sqlite.org/docs.html</a:t>
            </a:r>
            <a:endParaRPr lang="en-IN" sz="2000" b="1" dirty="0"/>
          </a:p>
          <a:p>
            <a:pPr marL="502920" lvl="0" indent="-457200">
              <a:buAutoNum type="arabicPeriod" startAt="3"/>
            </a:pPr>
            <a:r>
              <a:rPr lang="en-IN" sz="2000" b="1" dirty="0"/>
              <a:t>6. Kaggle – Student Performance Datasets     https://www.kaggle.com/datasets</a:t>
            </a:r>
            <a:endParaRPr lang="en-IN" sz="2000" b="1" dirty="0"/>
          </a:p>
          <a:p>
            <a:pPr lvl="0"/>
            <a:endParaRPr lang="en-IN" sz="2000" b="1" dirty="0"/>
          </a:p>
          <a:p>
            <a:pPr lvl="0"/>
            <a:endParaRPr lang="en-IN" sz="2000" b="1" dirty="0"/>
          </a:p>
          <a:p>
            <a:pPr lvl="0"/>
            <a:endParaRPr lang="en-IN" sz="2000" b="1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274" y="609600"/>
            <a:ext cx="9535666" cy="56388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IN" sz="4800" b="1"/>
              <a:t>                  </a:t>
            </a:r>
            <a:endParaRPr lang="en-IN" sz="4800" b="1"/>
          </a:p>
          <a:p>
            <a:pPr marL="45720" indent="0">
              <a:buNone/>
            </a:pPr>
            <a:endParaRPr lang="en-IN" sz="4800" b="1"/>
          </a:p>
          <a:p>
            <a:pPr marL="45720" indent="0">
              <a:buNone/>
            </a:pPr>
            <a:r>
              <a:rPr lang="en-IN" sz="4800" b="1"/>
              <a:t>               </a:t>
            </a:r>
            <a:r>
              <a:rPr lang="en-IN" sz="7200" b="1"/>
              <a:t>Thank You</a:t>
            </a:r>
            <a:endParaRPr lang="en-IN" sz="7200" b="1"/>
          </a:p>
          <a:p>
            <a:pPr marL="45720" indent="0">
              <a:buNone/>
            </a:pPr>
            <a:endParaRPr lang="en-IN" sz="4800" b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/>
</ds:datastoreItem>
</file>

<file path=customXml/itemProps2.xml><?xml version="1.0" encoding="utf-8"?>
<ds:datastoreItem xmlns:ds="http://schemas.openxmlformats.org/officeDocument/2006/customXml" ds:itemID="{4C37B52A-9EC8-4B7A-85C4-31F7EAFE403D}">
  <ds:schemaRefs/>
</ds:datastoreItem>
</file>

<file path=customXml/itemProps3.xml><?xml version="1.0" encoding="utf-8"?>
<ds:datastoreItem xmlns:ds="http://schemas.openxmlformats.org/officeDocument/2006/customXml" ds:itemID="{AF050606-E255-48B6-AE23-CE03A589EB2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{4E44B685-0E8A-4A3D-859E-74F12BDC0E19}TFf1460845-8e07-4b92-9183-e15be13008a218dbe6a5_win32-cc1095971745</Template>
  <TotalTime>0</TotalTime>
  <Words>7159</Words>
  <Application>WPS Presentation</Application>
  <PresentationFormat>Custom</PresentationFormat>
  <Paragraphs>171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Google Sans Text</vt:lpstr>
      <vt:lpstr>Century Gothic</vt:lpstr>
      <vt:lpstr>Microsoft YaHei</vt:lpstr>
      <vt:lpstr>Arial Unicode MS</vt:lpstr>
      <vt:lpstr>Palatino Linotype</vt:lpstr>
      <vt:lpstr>Segoe Print</vt:lpstr>
      <vt:lpstr>Custom</vt:lpstr>
      <vt:lpstr>Student Performance Prediction System Presented By: 2520030563 - B. Siri Manasa  2520030046 - G. Pavani Team Number: 18 | Section: 1  Under the Guidance of: Dr. Raghavendra, Department of Computer Science and Engineering </vt:lpstr>
      <vt:lpstr> Introduction &amp; Domain Background</vt:lpstr>
      <vt:lpstr>Problem Statement &amp; Motivation</vt:lpstr>
      <vt:lpstr>Literature Survey</vt:lpstr>
      <vt:lpstr>Research Gap Identified</vt:lpstr>
      <vt:lpstr>Objectives of the Project</vt:lpstr>
      <vt:lpstr>Proposed System Architecture</vt:lpstr>
      <vt:lpstr>Methodology &amp; Modules</vt:lpstr>
      <vt:lpstr>Tools and Technologies</vt:lpstr>
      <vt:lpstr>Work Completed / Review Plan</vt:lpstr>
      <vt:lpstr>Expected Outcome &amp; Conclusion</vt:lpstr>
      <vt:lpstr> 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System Presented By: 2520030563 - B. Siri Manasa  2520030046 - G. Pavani Team Number: 18 | Section: 1  Under the Guidance of: Dr. Raghavendra, Department of Computer Science and Engineering</dc:title>
  <dc:creator>sirimanasa2007@gmail.com</dc:creator>
  <cp:lastModifiedBy>Sai Pavani Garlapati</cp:lastModifiedBy>
  <cp:revision>8</cp:revision>
  <dcterms:created xsi:type="dcterms:W3CDTF">2026-09-25T11:34:00Z</dcterms:created>
  <dcterms:modified xsi:type="dcterms:W3CDTF">2026-10-13T07:27:51Z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  <property fmtid="{D5CDD505-2E9C-101B-9397-08002B2CF9AE}" pid="13" name="KSOProductBuildVer">
    <vt:lpwstr>1033-12.1.0.29162</vt:lpwstr>
  </property>
  <property fmtid="{D5CDD505-2E9C-101B-9397-08002B2CF9AE}" pid="14" name="ICV">
    <vt:lpwstr>061DBEE91D2D40AB840F912712A9229D_13</vt:lpwstr>
  </property>
</Properties>
</file>